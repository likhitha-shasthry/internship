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Chapter 14: Waves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Physics | Grade 11 | Level: Senior</a:t>
            </a:r>
          </a:p>
          <a:p/>
          <a:p>
            <a:r>
              <a:t>Study the propagation of disturbances, mechanical waves, transverse and longitudinal waves, progressive waves, wave speed, superposition, reflection, standing waves, normal modes and beats.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14.1 Introduction</a:t>
            </a:r>
          </a:p>
          <a:p>
            <a:pPr/>
            <a:r>
              <a:t>14.2 Transverse and Longitudinal Waves</a:t>
            </a:r>
          </a:p>
          <a:p>
            <a:pPr/>
            <a:r>
              <a:t>14.3 Displacement Relation in a Progressive Wave</a:t>
            </a:r>
          </a:p>
          <a:p>
            <a:pPr/>
            <a:r>
              <a:t>14.4 The Speed of a Travelling Wave</a:t>
            </a:r>
          </a:p>
          <a:p>
            <a:pPr/>
            <a:r>
              <a:t>14.5 The Principle of Superposition of Waves</a:t>
            </a:r>
          </a:p>
          <a:p>
            <a:pPr/>
            <a:r>
              <a:t>14.6 Reflection of Waves</a:t>
            </a:r>
          </a:p>
          <a:p>
            <a:pPr/>
            <a:r>
              <a:t>14.7 Beats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14.1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Wave?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wave is a moving disturbance that propagates from one point to another without the actual physical transfer or flow of matter as a whole.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Waves transport energy and propagate information from one point to another.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Mechanical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Mechanical waves require a material medium for propagation. Examples include waves on a string, water waves, sound waves and seismic waves.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Electromagnetic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Electromagnetic waves do not necessarily require a medium and can propagate through vacuum. Examples include light, radio waves and X-rays.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Matter waves are associated with particles such as electrons, protons, neutrons, atoms and molecules.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Propagation in a Medium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disturbance propagates through coupled oscillating elements of a medium. Elastic forces transmit the disturbance from one element to another.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14.2 Transverse and Longitudinal Waves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Transverse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The constituents of the medium oscillate perpendicular to the direction of wave propagation.</a:t>
            </a:r>
          </a:p>
          <a:p>
            <a:pPr lvl="1"/>
            <a:r>
              <a:t>• Wave on a stretched string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Longitudinal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The constituents of the medium oscillate along the direction of wave propagation.</a:t>
            </a:r>
          </a:p>
          <a:p>
            <a:pPr lvl="1"/>
            <a:r>
              <a:t>• Sound waves in air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Compressions and Rarefactions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Longitudinal sound waves propagate through successive compressions and rarefactions of the medium.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A travelling or progressive wave moves from one part of the medium to another while the medium as a whole does not move with the wave.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Propagation in Different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Transverse waves require a medium capable of sustaining shear stress, whereas longitudinal waves can propagate in elastic solids, liquids and gases.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Water waves involve complicated particle motion and can contain both transverse and longitudinal components.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14.1: Classifying Wave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Q1: Motion of a kink in a longitudinal spring produced by displacing one end sideways.</a:t>
            </a:r>
          </a:p>
          <a:p>
            <a:pPr lvl="1"/>
            <a:r>
              <a:t>A1: Transverse and longitudinal</a:t>
            </a:r>
          </a:p>
          <a:p>
            <a:r>
              <a:t>Q2: Waves produced in a cylinder containing a liquid by moving its piston back and forth.</a:t>
            </a:r>
          </a:p>
          <a:p>
            <a:pPr lvl="1"/>
            <a:r>
              <a:t>A2: Longitudinal</a:t>
            </a:r>
          </a:p>
          <a:p>
            <a:r>
              <a:t>Q3: Waves produced by a motorboat sailing in water.</a:t>
            </a:r>
          </a:p>
          <a:p>
            <a:pPr lvl="1"/>
            <a:r>
              <a:t>A3: Transverse and longitudinal</a:t>
            </a:r>
          </a:p>
          <a:p>
            <a:r>
              <a:t>Q4: Ultrasonic waves in air produced by a vibrating quartz crystal.</a:t>
            </a:r>
          </a:p>
          <a:p>
            <a:pPr lvl="1"/>
            <a:r>
              <a:t>A4: Longitudinal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14.3 Displacement Relation in a Progressive Wave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y(x,t) = a sin(kx - ωt + φ)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Travelling in Negative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y(x,t) = a sin(kx + ωt + φ)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Amplitude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Maximum displacement of the constituents of the medium from their equilibrium position.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The phase determines the displacement of the wave at a particular position and instant.</a:t>
            </a:r>
          </a:p>
          <a:p>
            <a:pPr>
              <a:defRPr b="1">
                <a:solidFill>
                  <a:srgbClr val="990000"/>
                </a:solidFill>
              </a:defRPr>
            </a:pPr>
            <a:r>
              <a:t>Formula: kx - ωt + 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The phase at x = 0 and t = 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The minimum distance between two points having the same phase.</a:t>
            </a:r>
          </a:p>
          <a:p>
            <a:pPr>
              <a:defRPr b="1">
                <a:solidFill>
                  <a:srgbClr val="990000"/>
                </a:solidFill>
              </a:defRPr>
            </a:pPr>
            <a:r>
              <a:t>Formula: λ = 2π/k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Wave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k = 2π/λ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T = 2π/ω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ω = 2π/T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ν = 1/T = ω/(2π)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Longitudinal Wave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s(x,t) = a sin(kx - ωt + φ)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14.2: Wave Equation on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Given: y(x,t) = 0.005 sin(80.0x - 3.0t)</a:t>
            </a:r>
          </a:p>
          <a:p>
            <a:r>
              <a:t>Find: Amplitude, Wavelength, Period, Frequency, Displacement at x = 30.0 cm and t = 20 s</a:t>
            </a:r>
          </a:p>
          <a:p>
            <a:r>
              <a:t>Results:</a:t>
            </a:r>
          </a:p>
          <a:p>
            <a:pPr lvl="1"/>
            <a:r>
              <a:t>amplitude: 0.005 m = 5 mm</a:t>
            </a:r>
          </a:p>
          <a:p>
            <a:pPr lvl="1"/>
            <a:r>
              <a:t>angularWaveNumber: 80.0 m^-1</a:t>
            </a:r>
          </a:p>
          <a:p>
            <a:pPr lvl="1"/>
            <a:r>
              <a:t>angularFrequency: 3.0 rad s^-1</a:t>
            </a:r>
          </a:p>
          <a:p>
            <a:pPr lvl="1"/>
            <a:r>
              <a:t>wavelength: 7.85 cm</a:t>
            </a:r>
          </a:p>
          <a:p>
            <a:pPr lvl="1"/>
            <a:r>
              <a:t>period: 2.09 s</a:t>
            </a:r>
          </a:p>
          <a:p>
            <a:pPr lvl="1"/>
            <a:r>
              <a:t>frequency: 0.48 Hz</a:t>
            </a:r>
          </a:p>
          <a:p>
            <a:pPr lvl="1"/>
            <a:r>
              <a:t>displacement: Approximately 5 mm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14.4 The Speed of a Travelling Wave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v = ω/k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Wave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v = λν = λ/T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During one complete oscillation of a constituent of the medium, the wave pattern travels a distance equal to one wavelength.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Dependence of Wave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speed of a mechanical wave depends on the inertial and elastic properties of the medium.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of a Transverse Wave on a Stretched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v = √(T/μ)</a:t>
            </a:r>
          </a:p>
          <a:p>
            <a:r>
              <a:t>Note: The speed depends on the properties of the string and does not depend on the wavelength or frequency of the wave itself.</a:t>
            </a:r>
          </a:p>
          <a:p>
            <a:r>
              <a:t>Variables:</a:t>
            </a:r>
          </a:p>
          <a:p>
            <a:pPr lvl="1"/>
            <a:r>
              <a:t>T: Tension in the string</a:t>
            </a:r>
          </a:p>
          <a:p>
            <a:pPr lvl="1"/>
            <a:r>
              <a:t>μ: Linear mass density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of a Longitudinal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v = √(B/ρ)</a:t>
            </a:r>
          </a:p>
          <a:p>
            <a:r>
              <a:t>Variables:</a:t>
            </a:r>
          </a:p>
          <a:p>
            <a:pPr lvl="1"/>
            <a:r>
              <a:t>B: Bulk modulus</a:t>
            </a:r>
          </a:p>
          <a:p>
            <a:pPr lvl="1"/>
            <a:r>
              <a:t>ρ: Mass density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14.5 The Principle of Superposition of Waves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Superposition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When two or more waves overlap, the resultant displacement is the algebraic sum of the individual displacements.</a:t>
            </a:r>
          </a:p>
          <a:p>
            <a:pPr>
              <a:defRPr b="1">
                <a:solidFill>
                  <a:srgbClr val="990000"/>
                </a:solidFill>
              </a:defRPr>
            </a:pPr>
            <a:r>
              <a:t>Formula: y(x,t) = y1(x,t) + y2(x,t)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y = Σ fi(x - vt)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principle of superposition is fundamental to the phenomenon of interference.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Constructive 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Condition: φ = 0</a:t>
            </a:r>
          </a:p>
          <a:p>
            <a:r>
              <a:t>Result: Resultant amplitude = 2a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Destructive 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Condition: φ = π</a:t>
            </a:r>
          </a:p>
          <a:p>
            <a:r>
              <a:t>Result: Resultant displacement = 0 for equal-amplitude waves.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Resultant Amplitude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A(φ) = 2a cos(φ/2)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14.6 Reflection of Waves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at a Rigid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travelling wave or pulse suffers a phase change of π on reflection at a rigid boundary.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at an Open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At a completely free boundary, the reflected pulse has the same phase as the incident pulse, assuming no energy dissipation.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Rigid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yr(x,t) = -a sin(kx - ωt)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yr(x,t) = a sin(kx - ωt)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Echo is an example of reflection by a rigid boundary.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Standing Waves and Normal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14.7 Beats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Formation of Beats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Beats arise when two waves having slightly different frequencies and comparable amplitudes are superposed.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Beat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990000"/>
                </a:solidFill>
              </a:defRPr>
            </a:pPr>
            <a:r>
              <a:t>Formula: νbeat = |ν1 - ν2|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Beats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sound intensity periodically increases and decreases, producing audible waxing and waning.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14.6: Beats from Two Sitar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Given:</a:t>
            </a:r>
          </a:p>
          <a:p>
            <a:pPr lvl="1"/>
            <a:r>
              <a:t>frequencyA: 427 Hz</a:t>
            </a:r>
          </a:p>
          <a:p>
            <a:pPr lvl="1"/>
            <a:r>
              <a:t>initialBeatFrequency: 5 Hz</a:t>
            </a:r>
          </a:p>
          <a:p>
            <a:pPr lvl="1"/>
            <a:r>
              <a:t>newBeatFrequency: 3 Hz</a:t>
            </a:r>
          </a:p>
          <a:p>
            <a:pPr lvl="1"/>
            <a:r>
              <a:t>change: Tension of string B is increased.</a:t>
            </a:r>
          </a:p>
          <a:p>
            <a:r>
              <a:t>Result: The original frequency of string B is 422 Hz.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Mechanical waves exist in material media.</a:t>
            </a:r>
          </a:p>
          <a:p>
            <a:r>
              <a:t>Transverse waves have particle oscillations perpendicular to propagation.</a:t>
            </a:r>
          </a:p>
          <a:p>
            <a:r>
              <a:t>Longitudinal waves have particle oscillations parallel to propagation.</a:t>
            </a:r>
          </a:p>
          <a:p>
            <a:r>
              <a:t>A progressive wave moves from one point of a medium to another.</a:t>
            </a:r>
          </a:p>
          <a:p>
            <a:r>
              <a:t>A sinusoidal wave travelling in the positive x-direction is represented by y(x,t) = a sin(kx - ωt + φ).</a:t>
            </a:r>
          </a:p>
          <a:p>
            <a:r>
              <a:t>Wavelength is the distance between consecutive points having the same phase.</a:t>
            </a:r>
          </a:p>
          <a:p>
            <a:r>
              <a:t>Period T = 2π/ω.</a:t>
            </a:r>
          </a:p>
          <a:p>
            <a:r>
              <a:t>Frequency ν = 1/T = ω/(2π).</a:t>
            </a:r>
          </a:p>
          <a:p>
            <a:r>
              <a:t>Wave speed v = ω/k = λ/T = λν.</a:t>
            </a:r>
          </a:p>
          <a:p>
            <a:r>
              <a:t>Speed of a transverse wave on a stretched string is v = √(T/μ).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Sound waves are longitudinal mechanical waves and can propagate through solids, liquids and gases.</a:t>
            </a:r>
          </a:p>
          <a:p>
            <a:r>
              <a:t>The speed of a longitudinal wave is v = √(B/ρ).</a:t>
            </a:r>
          </a:p>
          <a:p>
            <a:r>
              <a:t>The principle of superposition states that resultant displacement is the algebraic sum of individual displacements.</a:t>
            </a:r>
          </a:p>
          <a:p>
            <a:r>
              <a:t>Reflection at a rigid boundary produces a phase change of π.</a:t>
            </a:r>
          </a:p>
          <a:p>
            <a:r>
              <a:t>Standing waves contain nodes and antinodes.</a:t>
            </a:r>
          </a:p>
          <a:p>
            <a:r>
              <a:t>A string fixed at both ends has frequencies νn = nv/(2L).</a:t>
            </a:r>
          </a:p>
          <a:p>
            <a:r>
              <a:t>An air column closed at one end supports odd harmonics.</a:t>
            </a:r>
          </a:p>
          <a:p>
            <a:r>
              <a:t>Beats occur when two waves of slightly different frequencies are superposed.</a:t>
            </a:r>
          </a:p>
          <a:p>
            <a:r>
              <a:t>Beat frequency is νbeat = |ν1 - ν2|.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